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>
        <p:scale>
          <a:sx n="104" d="100"/>
          <a:sy n="104" d="100"/>
        </p:scale>
        <p:origin x="8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55DDE-6000-EC42-B998-17C7E5F06556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C064E-05E3-6E40-8F7C-3E3872DF0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9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4AA2-98E5-48D7-389F-A989266D5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B27C7-2459-8C39-E017-DB227E454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0F857-7B6A-C683-95B8-6ECFF91B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A1C36-A72F-A84F-B98E-40281E65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628C-911A-F7AE-C889-B4A4760F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0648-E06A-67DC-878B-73758E16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8A45F-8CC5-DBB9-4C8E-D28DFB618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CC578-5521-355C-C188-E184603D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F3906-2B5A-6A6D-931B-07B8C1E2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7768-6838-D3BD-67A5-44A71BD4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3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19EBA-A7FE-91F7-F112-FF665AF6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0CDE3-FD5C-BF6B-673B-47EBD37C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F38A-B999-4380-1F5B-B8AD1E57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6797-1D83-F050-6B14-C7CD35B0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FFEE-40A4-3BBD-6895-A67D567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3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40A3-D09C-BFED-C744-7DEABA03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C296F-FE9E-7A4F-C789-E07778E34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D7374-290E-6343-9978-5BD5768E3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EFD6E-F7E0-D152-3147-CEF28B55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C37EB-1F2F-A01E-4A77-877DAB65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D265B-A108-4CE4-50EC-85FA5760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EF66-E280-D43C-0FF7-A0A25DE4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B9253-3C23-0BA2-56ED-64329E93F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82008-D7D2-0E1E-4E0B-5FA755C61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F7470-ABFB-CF22-6AE6-EB07824A1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8F118-32A0-017C-3460-4C0472DD1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F76E4-B550-0AA3-80E1-12192979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EBC714-B9AB-B92C-E166-A21BC13AD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884E-3ABC-2C1B-6D2A-FCF8596D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6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D047-5184-8687-F570-F4352DAE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417A5-6BEE-5AA6-A6C8-7D3176B25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0CA7B-836B-61FB-75E3-1B36163E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FCEFF-536C-6B7E-C360-9EAE8D4F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2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26912-AA77-E0D2-BE02-0FF98C0D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D9382-9CF8-BC31-A256-A1546B20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E24A0-71A1-2EAF-EAC3-39DF3F89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4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786B-454A-4D96-DEE7-1233889A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1993-653F-6712-EC6F-63C5B4FF6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F477D-4225-D36C-9392-0C730FEF2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7776F-7106-FA5C-B8BF-1FDB0F28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8F958-AB12-61FB-CDDC-F252E96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19DE2-94F3-6037-66F9-AA128264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0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C8A5-2AE2-75A9-CE05-100D193E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85944F-95D5-7718-5F2F-CFB8E9499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45D9B-68BD-2F01-0600-E4849501A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10A19-EABB-7B59-CA7A-807DA74C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B07DE-45CC-7AA0-9FF9-4937627A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8F71C-1C17-5881-B8BD-13F246BD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4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141A-03E7-9D8D-525F-08F828D8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1B525-863F-1643-1EBB-9B94E126A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7F0C7-0D73-92BD-B57D-296AF2D8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EE164-D80E-C217-BFA2-FBB15125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81EE-A042-D18F-FE21-7F98D834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5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F192A-A159-EDE6-FCD7-8C5B4957B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ABFED-D688-7FAA-BEE1-10C69F2F0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7C85C-0B32-C039-2EF1-0A76355F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99299-93C4-EF62-63C7-08FE37BC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A64E0-D31A-C437-5C4A-842AD04A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7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AC981-2321-0661-3DB6-9EF80661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CFF0-A05A-F39A-CB26-82F1D25B1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0A58-21BC-6CA7-40AC-33C61D26D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A06B6-BED5-7A47-AD9E-267014AE577A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974B0-7B7B-2D0C-0AA9-6525BC742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509AF-4268-C00A-894E-5418FB387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D75E8-98DD-2F4B-889A-C06810987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77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7" name="Freeform: Shape 14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18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1" name="Freeform: Shape 22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B65F180A-57F9-5615-1A9B-F6B4D0EF2FCB}"/>
              </a:ext>
            </a:extLst>
          </p:cNvPr>
          <p:cNvSpPr/>
          <p:nvPr/>
        </p:nvSpPr>
        <p:spPr>
          <a:xfrm>
            <a:off x="2854031" y="862528"/>
            <a:ext cx="6657269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75-Year History of Artificial Intelligence</a:t>
            </a:r>
            <a:endParaRPr lang="en-US" sz="4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774278-9549-129D-8A2B-5F70D1F63D8E}"/>
              </a:ext>
            </a:extLst>
          </p:cNvPr>
          <p:cNvSpPr/>
          <p:nvPr/>
        </p:nvSpPr>
        <p:spPr>
          <a:xfrm>
            <a:off x="2589666" y="3607555"/>
            <a:ext cx="69216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i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From Turing's "Can Machines Think?" to the Generative Boom</a:t>
            </a:r>
            <a:endParaRPr lang="en-US" sz="2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4">
            <a:extLst>
              <a:ext uri="{FF2B5EF4-FFF2-40B4-BE49-F238E27FC236}">
                <a16:creationId xmlns:a16="http://schemas.microsoft.com/office/drawing/2014/main" id="{C52CF122-15E9-64B4-8C72-2094FAE2519A}"/>
              </a:ext>
            </a:extLst>
          </p:cNvPr>
          <p:cNvSpPr/>
          <p:nvPr/>
        </p:nvSpPr>
        <p:spPr>
          <a:xfrm>
            <a:off x="1828800" y="438912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3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chronological journey through cycles of massive breakthroughs, funding winters, and subsequent reawakenings.
• Analyzing how hardware capability, structured datasets, and mathematical algorithms converged over seven decades.
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9442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D6222E3-B2B2-2941-1BE8-5EFFFDE4D240}"/>
              </a:ext>
            </a:extLst>
          </p:cNvPr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Five Key Eras of AI Development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CB8869-FBB4-6DBD-9A61-25C74E69350D}"/>
              </a:ext>
            </a:extLst>
          </p:cNvPr>
          <p:cNvSpPr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high-level view of progress, funding, and paradigm shifts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455B40-2F33-11CD-A4BD-B853344F7040}"/>
              </a:ext>
            </a:extLst>
          </p:cNvPr>
          <p:cNvSpPr/>
          <p:nvPr/>
        </p:nvSpPr>
        <p:spPr>
          <a:xfrm>
            <a:off x="731520" y="1645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2EC59C-6A52-520E-D1D5-DEBA2CFA5C2B}"/>
              </a:ext>
            </a:extLst>
          </p:cNvPr>
          <p:cNvSpPr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Origins (1950–1969)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39CEC7-997A-1C0C-B5EB-74B75676078C}"/>
              </a:ext>
            </a:extLst>
          </p:cNvPr>
          <p:cNvSpPr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founding questions and first working programs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8506AC-899E-8439-CCFB-3AF0CBE2BBF8}"/>
              </a:ext>
            </a:extLst>
          </p:cNvPr>
          <p:cNvSpPr/>
          <p:nvPr/>
        </p:nvSpPr>
        <p:spPr>
          <a:xfrm>
            <a:off x="914400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period defined by philosophical exploration and symbolic reasoning, where the foundational architectures of...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C019CFD-C539-11E0-DCEE-3439A01EB6EE}"/>
              </a:ext>
            </a:extLst>
          </p:cNvPr>
          <p:cNvSpPr/>
          <p:nvPr/>
        </p:nvSpPr>
        <p:spPr>
          <a:xfrm>
            <a:off x="4297680" y="1645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5B7A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D1F7E3-75CC-E3DC-EB98-23663D62C16E}"/>
              </a:ext>
            </a:extLst>
          </p:cNvPr>
          <p:cNvSpPr/>
          <p:nvPr/>
        </p:nvSpPr>
        <p:spPr>
          <a:xfrm>
            <a:off x="448056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A9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Winter I &amp; Thaw (1970–1987)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2CBE0D-5030-FF2B-DDBB-7F02E8A3F6D1}"/>
              </a:ext>
            </a:extLst>
          </p:cNvPr>
          <p:cNvSpPr/>
          <p:nvPr/>
        </p:nvSpPr>
        <p:spPr>
          <a:xfrm>
            <a:off x="448056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collapses, followed by commercial expert systems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4B0A466-E304-2A47-A227-404E9E970152}"/>
              </a:ext>
            </a:extLst>
          </p:cNvPr>
          <p:cNvSpPr/>
          <p:nvPr/>
        </p:nvSpPr>
        <p:spPr>
          <a:xfrm>
            <a:off x="4480560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Inflated early promises ran into physical computational bottlenecks. When machine translation failed to deliver,...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B04F2C-D9F5-2E00-6C19-8ACEE3EFDE13}"/>
              </a:ext>
            </a:extLst>
          </p:cNvPr>
          <p:cNvSpPr/>
          <p:nvPr/>
        </p:nvSpPr>
        <p:spPr>
          <a:xfrm>
            <a:off x="7863840" y="164592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4B65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9682EFF-8B29-A0C4-AC98-8F3B95FD9435}"/>
              </a:ext>
            </a:extLst>
          </p:cNvPr>
          <p:cNvSpPr/>
          <p:nvPr/>
        </p:nvSpPr>
        <p:spPr>
          <a:xfrm>
            <a:off x="804672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658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Winter II (1987–1993)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B8B72C3-C67C-2474-FAEB-85EC6A2EF526}"/>
              </a:ext>
            </a:extLst>
          </p:cNvPr>
          <p:cNvSpPr/>
          <p:nvPr/>
        </p:nvSpPr>
        <p:spPr>
          <a:xfrm>
            <a:off x="80467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prove brittle and expensive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BDB1D9C-114A-B985-D9E6-927135C8B943}"/>
              </a:ext>
            </a:extLst>
          </p:cNvPr>
          <p:cNvSpPr/>
          <p:nvPr/>
        </p:nvSpPr>
        <p:spPr>
          <a:xfrm>
            <a:off x="8046720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proved too costly to maintain, broke down outside extremely narrow domains, and...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104D8A3-505C-F0DB-E229-8478B039EB68}"/>
              </a:ext>
            </a:extLst>
          </p:cNvPr>
          <p:cNvSpPr/>
          <p:nvPr/>
        </p:nvSpPr>
        <p:spPr>
          <a:xfrm>
            <a:off x="731520" y="384048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2F9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8DE483F-1E56-0C47-7542-D6E8175AA0B4}"/>
              </a:ext>
            </a:extLst>
          </p:cNvPr>
          <p:cNvSpPr/>
          <p:nvPr/>
        </p:nvSpPr>
        <p:spPr>
          <a:xfrm>
            <a:off x="91440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9E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Quiet Renaissance (1994–2011)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156904-CFC7-CAF6-EF56-71583A7B46B8}"/>
              </a:ext>
            </a:extLst>
          </p:cNvPr>
          <p:cNvSpPr/>
          <p:nvPr/>
        </p:nvSpPr>
        <p:spPr>
          <a:xfrm>
            <a:off x="91440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and data replace hand-coded rules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E91DF18-5C31-5AEC-BB7F-A7FDF4D972C6}"/>
              </a:ext>
            </a:extLst>
          </p:cNvPr>
          <p:cNvSpPr/>
          <p:nvPr/>
        </p:nvSpPr>
        <p:spPr>
          <a:xfrm>
            <a:off x="91440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trying to hand-program intelligence, the field pivoted to probability, statistics, and machine...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47C813E-8EDC-7FB1-A3DB-5455BC1E3D87}"/>
              </a:ext>
            </a:extLst>
          </p:cNvPr>
          <p:cNvSpPr/>
          <p:nvPr/>
        </p:nvSpPr>
        <p:spPr>
          <a:xfrm>
            <a:off x="4297680" y="384048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1498DB-B744-2D87-8F8B-7604AAB1F233}"/>
              </a:ext>
            </a:extLst>
          </p:cNvPr>
          <p:cNvSpPr/>
          <p:nvPr/>
        </p:nvSpPr>
        <p:spPr>
          <a:xfrm>
            <a:off x="448056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Learning &amp; Cloud (2012–2019)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9D51AB-7111-DBA7-BEC7-5DC7851D39BD}"/>
              </a:ext>
            </a:extLst>
          </p:cNvPr>
          <p:cNvSpPr/>
          <p:nvPr/>
        </p:nvSpPr>
        <p:spPr>
          <a:xfrm>
            <a:off x="448056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big data, and algorithms align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15B62C-78EB-F3E9-A8F6-994A175C4124}"/>
              </a:ext>
            </a:extLst>
          </p:cNvPr>
          <p:cNvSpPr/>
          <p:nvPr/>
        </p:nvSpPr>
        <p:spPr>
          <a:xfrm>
            <a:off x="448056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hardware acceleration, internet-scale datasets, and optimized deep network algorithms created an explosion in...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501637A-857D-A7F1-B828-72BEB6CF7C30}"/>
              </a:ext>
            </a:extLst>
          </p:cNvPr>
          <p:cNvSpPr/>
          <p:nvPr/>
        </p:nvSpPr>
        <p:spPr>
          <a:xfrm>
            <a:off x="7863840" y="3840480"/>
            <a:ext cx="32918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9050">
            <a:solidFill>
              <a:srgbClr val="EF4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AD4EFE9-4EFB-0216-DFF7-C612A58D0288}"/>
              </a:ext>
            </a:extLst>
          </p:cNvPr>
          <p:cNvSpPr/>
          <p:nvPr/>
        </p:nvSpPr>
        <p:spPr>
          <a:xfrm>
            <a:off x="804672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Generative AI Era (2020–Present)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1873D69-623D-9128-A2E5-7B1BA5FD82CF}"/>
              </a:ext>
            </a:extLst>
          </p:cNvPr>
          <p:cNvSpPr/>
          <p:nvPr/>
        </p:nvSpPr>
        <p:spPr>
          <a:xfrm>
            <a:off x="804672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academic research to global consumer standard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CEB4637-EBD8-8818-FEDF-8AB07C97DC1D}"/>
              </a:ext>
            </a:extLst>
          </p:cNvPr>
          <p:cNvSpPr/>
          <p:nvPr/>
        </p:nvSpPr>
        <p:spPr>
          <a:xfrm>
            <a:off x="8046720" y="4754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foundation models trained on global-scale clusters exhibit emergent capabilities. Conversational, reasoning, and multimodal...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8E21C3D-6659-2FB9-8406-610183FD67B1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 of the 75-Year Cycle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4894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BEDEFE8-055F-B301-354E-91B2FC6DE5C2}"/>
              </a:ext>
            </a:extLst>
          </p:cNvPr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1: Origins of AI (1950–1969)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08B911-01EB-DFD1-20C5-565462F19B9E}"/>
              </a:ext>
            </a:extLst>
          </p:cNvPr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founding questions and first working programs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E76E5F-0E38-6B10-1539-241F0412D268}"/>
              </a:ext>
            </a:extLst>
          </p:cNvPr>
          <p:cNvSpPr/>
          <p:nvPr/>
        </p:nvSpPr>
        <p:spPr>
          <a:xfrm>
            <a:off x="8686800" y="4572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6F2FB4-DAB5-9F57-AC3B-121239CCFD9F}"/>
              </a:ext>
            </a:extLst>
          </p:cNvPr>
          <p:cNvSpPr/>
          <p:nvPr/>
        </p:nvSpPr>
        <p:spPr>
          <a:xfrm>
            <a:off x="8686800" y="502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1950–1969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B58F29-FC7F-D1F1-6910-49FD91E9BF9F}"/>
              </a:ext>
            </a:extLst>
          </p:cNvPr>
          <p:cNvSpPr/>
          <p:nvPr/>
        </p:nvSpPr>
        <p:spPr>
          <a:xfrm>
            <a:off x="731520" y="2103120"/>
            <a:ext cx="10725912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B1F0E9-C342-E024-3538-52EA6D82735D}"/>
              </a:ext>
            </a:extLst>
          </p:cNvPr>
          <p:cNvSpPr/>
          <p:nvPr/>
        </p:nvSpPr>
        <p:spPr>
          <a:xfrm>
            <a:off x="1621231" y="20299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54319A-664D-9586-5A4C-1BEFAB94D2B2}"/>
              </a:ext>
            </a:extLst>
          </p:cNvPr>
          <p:cNvSpPr/>
          <p:nvPr/>
        </p:nvSpPr>
        <p:spPr>
          <a:xfrm>
            <a:off x="731520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1950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8DB420-D892-8761-6255-C4A850899421}"/>
              </a:ext>
            </a:extLst>
          </p:cNvPr>
          <p:cNvSpPr/>
          <p:nvPr/>
        </p:nvSpPr>
        <p:spPr>
          <a:xfrm>
            <a:off x="731520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04A903A-DA6E-7CB9-960A-7640E9C83C8A}"/>
              </a:ext>
            </a:extLst>
          </p:cNvPr>
          <p:cNvSpPr/>
          <p:nvPr/>
        </p:nvSpPr>
        <p:spPr>
          <a:xfrm>
            <a:off x="868680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Turing asks "Can machines think?"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0814B8-0C0B-0778-69E2-2C264088A25A}"/>
              </a:ext>
            </a:extLst>
          </p:cNvPr>
          <p:cNvSpPr/>
          <p:nvPr/>
        </p:nvSpPr>
        <p:spPr>
          <a:xfrm>
            <a:off x="868680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Turing's paper 'Computing Machinery and Intelligence' proposes the Turing Test: if a machine can hold a convincing conversation, its intelligence should be taken seriously.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E0C611-1512-0B68-8779-D0E6769BF971}"/>
              </a:ext>
            </a:extLst>
          </p:cNvPr>
          <p:cNvSpPr/>
          <p:nvPr/>
        </p:nvSpPr>
        <p:spPr>
          <a:xfrm>
            <a:off x="3812134" y="20299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9D3995-9AFA-5DAF-725F-2CCA819B8EA0}"/>
              </a:ext>
            </a:extLst>
          </p:cNvPr>
          <p:cNvSpPr/>
          <p:nvPr/>
        </p:nvSpPr>
        <p:spPr>
          <a:xfrm>
            <a:off x="2922422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1956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8459BCB-0C9D-6086-E75B-A5C1A1F05F27}"/>
              </a:ext>
            </a:extLst>
          </p:cNvPr>
          <p:cNvSpPr/>
          <p:nvPr/>
        </p:nvSpPr>
        <p:spPr>
          <a:xfrm>
            <a:off x="2922422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8AC9F7-B1E1-44D6-59F4-345F0F67766E}"/>
              </a:ext>
            </a:extLst>
          </p:cNvPr>
          <p:cNvSpPr/>
          <p:nvPr/>
        </p:nvSpPr>
        <p:spPr>
          <a:xfrm>
            <a:off x="3059582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field gets its name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E67031-63E1-32B3-60E2-47DD205AB09F}"/>
              </a:ext>
            </a:extLst>
          </p:cNvPr>
          <p:cNvSpPr/>
          <p:nvPr/>
        </p:nvSpPr>
        <p:spPr>
          <a:xfrm>
            <a:off x="3059582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Dartmouth Summer Research Project, John McCarthy coins the term 'artificial intelligence.' Newell and Simon's Logic Theorist debuts as arguably the first true AI program.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7826BAB-8E5B-B586-18F3-60A6B73EAED8}"/>
              </a:ext>
            </a:extLst>
          </p:cNvPr>
          <p:cNvSpPr/>
          <p:nvPr/>
        </p:nvSpPr>
        <p:spPr>
          <a:xfrm>
            <a:off x="6003036" y="20299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D76E5F0-1175-BAAB-5751-A54D9CDCB330}"/>
              </a:ext>
            </a:extLst>
          </p:cNvPr>
          <p:cNvSpPr/>
          <p:nvPr/>
        </p:nvSpPr>
        <p:spPr>
          <a:xfrm>
            <a:off x="5113325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1958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FAC847F-5090-1A69-49F5-2722008DC822}"/>
              </a:ext>
            </a:extLst>
          </p:cNvPr>
          <p:cNvSpPr/>
          <p:nvPr/>
        </p:nvSpPr>
        <p:spPr>
          <a:xfrm>
            <a:off x="5113325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0F35AA4-DA28-8BB4-E277-16032A0DAA0F}"/>
              </a:ext>
            </a:extLst>
          </p:cNvPr>
          <p:cNvSpPr/>
          <p:nvPr/>
        </p:nvSpPr>
        <p:spPr>
          <a:xfrm>
            <a:off x="5250485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Lisp arrives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FBEDAB-EA58-0DA1-41AE-A6926F804183}"/>
              </a:ext>
            </a:extLst>
          </p:cNvPr>
          <p:cNvSpPr/>
          <p:nvPr/>
        </p:nvSpPr>
        <p:spPr>
          <a:xfrm>
            <a:off x="5250485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McCarthy develops Lisp, which becomes the dominant programming language for AI research for decades due to its dynamic nature and list processing power.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2DF67C0-26A0-105B-741C-07223D1E5D28}"/>
              </a:ext>
            </a:extLst>
          </p:cNvPr>
          <p:cNvSpPr/>
          <p:nvPr/>
        </p:nvSpPr>
        <p:spPr>
          <a:xfrm>
            <a:off x="8193938" y="20299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EE0E8-0CD9-083F-E071-44B77171A9BC}"/>
              </a:ext>
            </a:extLst>
          </p:cNvPr>
          <p:cNvSpPr/>
          <p:nvPr/>
        </p:nvSpPr>
        <p:spPr>
          <a:xfrm>
            <a:off x="7304227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0D1D62-9899-33C0-9791-2805A2069E46}"/>
              </a:ext>
            </a:extLst>
          </p:cNvPr>
          <p:cNvSpPr/>
          <p:nvPr/>
        </p:nvSpPr>
        <p:spPr>
          <a:xfrm>
            <a:off x="7304227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E6E37F-6D4E-A870-59E6-EB6DB9D7F506}"/>
              </a:ext>
            </a:extLst>
          </p:cNvPr>
          <p:cNvSpPr/>
          <p:nvPr/>
        </p:nvSpPr>
        <p:spPr>
          <a:xfrm>
            <a:off x="7441387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ELIZA mimics a therapist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E887BAB-C87F-EA32-0199-C74D0B96E1D8}"/>
              </a:ext>
            </a:extLst>
          </p:cNvPr>
          <p:cNvSpPr/>
          <p:nvPr/>
        </p:nvSpPr>
        <p:spPr>
          <a:xfrm>
            <a:off x="7441387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Weizenbaum's ELIZA carries on eerily convincing conversation using simple pattern-matching, demonstrating how easily people project understanding onto software.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F94EA96-88E7-7B35-0A58-8E4FD22457D6}"/>
              </a:ext>
            </a:extLst>
          </p:cNvPr>
          <p:cNvSpPr/>
          <p:nvPr/>
        </p:nvSpPr>
        <p:spPr>
          <a:xfrm>
            <a:off x="10384841" y="20299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ADFEC08-1228-F03E-7118-4646D6936A07}"/>
              </a:ext>
            </a:extLst>
          </p:cNvPr>
          <p:cNvSpPr/>
          <p:nvPr/>
        </p:nvSpPr>
        <p:spPr>
          <a:xfrm>
            <a:off x="9495130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1969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FF1171F-556C-E63F-55F8-5BB884B18EB2}"/>
              </a:ext>
            </a:extLst>
          </p:cNvPr>
          <p:cNvSpPr/>
          <p:nvPr/>
        </p:nvSpPr>
        <p:spPr>
          <a:xfrm>
            <a:off x="9495130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66698E1-A1DC-34BB-6510-3EE61CEAE1F1}"/>
              </a:ext>
            </a:extLst>
          </p:cNvPr>
          <p:cNvSpPr/>
          <p:nvPr/>
        </p:nvSpPr>
        <p:spPr>
          <a:xfrm>
            <a:off x="9632290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SHRDLU &amp; the perceptron critique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69E0A54-8336-CF25-22E2-E2F99DB09FF4}"/>
              </a:ext>
            </a:extLst>
          </p:cNvPr>
          <p:cNvSpPr/>
          <p:nvPr/>
        </p:nvSpPr>
        <p:spPr>
          <a:xfrm>
            <a:off x="9632290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Terry Winograd's SHRDLU manipulates virtual blocks, while Minsky and Papert's book 'Perceptrons' mathematically exposes limitations of early single-layer neural networks, curbing funding.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F8047C1-758D-32C8-8CA5-72CD5190B37B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1: Origins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005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A508C64-2A93-B8D9-C764-32E249232220}"/>
              </a:ext>
            </a:extLst>
          </p:cNvPr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2: AI Winter I &amp; The Expert System Thaw (1970–1987)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92F58B-20CC-11BA-C8BA-DDFFE1AC0BA4}"/>
              </a:ext>
            </a:extLst>
          </p:cNvPr>
          <p:cNvSpPr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inflated promises and the rise of rule-based commercial software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47BF4E-96A4-E59D-0857-D2BC61B9D8E7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 War funding for machine translation collapses after the 1966 ALPAC report deems it inefficient.
</a:t>
            </a:r>
            <a:r>
              <a:rPr lang="en-US" sz="1300" b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Skepticism grows with Hubert Dreyfus's critique and the 1973 British Lighthill Report, concluding that AI failed its grand goals.
</a:t>
            </a:r>
            <a:r>
              <a:rPr lang="en-US" sz="1300" b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dried up overnight at major research labs in the US and UK, leading to the first official "AI Winter".
</a:t>
            </a:r>
            <a:r>
              <a:rPr lang="en-US" sz="1300" b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thaws around 1980 with XCON: Digital Equipment Corporation's rule-based expert system which configures computer orders, saving the firm millions and sparking a commercial boom.
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376FF3-9E14-B46D-11D6-F04A0213DC5D}"/>
              </a:ext>
            </a:extLst>
          </p:cNvPr>
          <p:cNvSpPr/>
          <p:nvPr/>
        </p:nvSpPr>
        <p:spPr>
          <a:xfrm>
            <a:off x="6583680" y="164592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0C5B96-0D61-20D5-5290-F789FDFF389F}"/>
              </a:ext>
            </a:extLst>
          </p:cNvPr>
          <p:cNvSpPr/>
          <p:nvPr/>
        </p:nvSpPr>
        <p:spPr>
          <a:xfrm>
            <a:off x="6583680" y="1645920"/>
            <a:ext cx="73152" cy="914400"/>
          </a:xfrm>
          <a:prstGeom prst="rect">
            <a:avLst/>
          </a:prstGeom>
          <a:solidFill>
            <a:srgbClr val="5B7A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983B8C-6758-0C22-775D-E1A3407097DC}"/>
              </a:ext>
            </a:extLst>
          </p:cNvPr>
          <p:cNvSpPr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9441A2-B3B0-F001-C866-367D64BB5577}"/>
              </a:ext>
            </a:extLst>
          </p:cNvPr>
          <p:cNvSpPr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ALPAC report kills MT funding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5314FDA-037D-564F-14D7-089F82EBC056}"/>
              </a:ext>
            </a:extLst>
          </p:cNvPr>
          <p:cNvSpPr/>
          <p:nvPr/>
        </p:nvSpPr>
        <p:spPr>
          <a:xfrm>
            <a:off x="6766560" y="19933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 government report finds machine translation has failed to meet expectations, shutting down Cold...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149ED03-408E-8744-C604-C815EB2B3535}"/>
              </a:ext>
            </a:extLst>
          </p:cNvPr>
          <p:cNvSpPr/>
          <p:nvPr/>
        </p:nvSpPr>
        <p:spPr>
          <a:xfrm>
            <a:off x="6583680" y="274320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7C693A-7A07-D44C-FEA4-C359A08912AF}"/>
              </a:ext>
            </a:extLst>
          </p:cNvPr>
          <p:cNvSpPr/>
          <p:nvPr/>
        </p:nvSpPr>
        <p:spPr>
          <a:xfrm>
            <a:off x="6583680" y="2743200"/>
            <a:ext cx="73152" cy="914400"/>
          </a:xfrm>
          <a:prstGeom prst="rect">
            <a:avLst/>
          </a:prstGeom>
          <a:solidFill>
            <a:srgbClr val="5B7A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C07E12-92E4-227E-3A9B-68966CB1FD38}"/>
              </a:ext>
            </a:extLst>
          </p:cNvPr>
          <p:cNvSpPr/>
          <p:nvPr/>
        </p:nvSpPr>
        <p:spPr>
          <a:xfrm>
            <a:off x="67665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1972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68E1A4F-B0E3-FFB1-C607-DBAA289160C9}"/>
              </a:ext>
            </a:extLst>
          </p:cNvPr>
          <p:cNvSpPr/>
          <p:nvPr/>
        </p:nvSpPr>
        <p:spPr>
          <a:xfrm>
            <a:off x="77724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Dreyfus's critique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CAB5B5-190F-B220-8987-FB68C424E9B3}"/>
              </a:ext>
            </a:extLst>
          </p:cNvPr>
          <p:cNvSpPr/>
          <p:nvPr/>
        </p:nvSpPr>
        <p:spPr>
          <a:xfrm>
            <a:off x="6766560" y="30906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Philosopher Hubert Dreyfus publishes 'What Computers Can't Do', arguing that symbolic AI misses the fundamental,...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439B822-334C-C943-CAEF-F7C67609A6A2}"/>
              </a:ext>
            </a:extLst>
          </p:cNvPr>
          <p:cNvSpPr/>
          <p:nvPr/>
        </p:nvSpPr>
        <p:spPr>
          <a:xfrm>
            <a:off x="6583680" y="384048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34A5205-6706-CEE7-E42F-B7D192F576D7}"/>
              </a:ext>
            </a:extLst>
          </p:cNvPr>
          <p:cNvSpPr/>
          <p:nvPr/>
        </p:nvSpPr>
        <p:spPr>
          <a:xfrm>
            <a:off x="6583680" y="3840480"/>
            <a:ext cx="73152" cy="914400"/>
          </a:xfrm>
          <a:prstGeom prst="rect">
            <a:avLst/>
          </a:prstGeom>
          <a:solidFill>
            <a:srgbClr val="5B7A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8647A13-8D32-0BC9-F853-76B09371E147}"/>
              </a:ext>
            </a:extLst>
          </p:cNvPr>
          <p:cNvSpPr/>
          <p:nvPr/>
        </p:nvSpPr>
        <p:spPr>
          <a:xfrm>
            <a:off x="67665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1973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EBE855-3F7D-A723-701A-881BE2FF3FCD}"/>
              </a:ext>
            </a:extLst>
          </p:cNvPr>
          <p:cNvSpPr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Lighthill Report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1799B9-6F4E-CC98-D7E6-6E5FA660D362}"/>
              </a:ext>
            </a:extLst>
          </p:cNvPr>
          <p:cNvSpPr/>
          <p:nvPr/>
        </p:nvSpPr>
        <p:spPr>
          <a:xfrm>
            <a:off x="6766560" y="4187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 James Lighthill's report to the UK government concludes AI has failed its 'grand goals.'...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D1A21EE-E9D6-73BD-AEB4-224B5BFF6CD7}"/>
              </a:ext>
            </a:extLst>
          </p:cNvPr>
          <p:cNvSpPr/>
          <p:nvPr/>
        </p:nvSpPr>
        <p:spPr>
          <a:xfrm>
            <a:off x="6583680" y="493776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F8CE9EE-877F-836E-6A60-02E45B10844F}"/>
              </a:ext>
            </a:extLst>
          </p:cNvPr>
          <p:cNvSpPr/>
          <p:nvPr/>
        </p:nvSpPr>
        <p:spPr>
          <a:xfrm>
            <a:off x="6583680" y="4937760"/>
            <a:ext cx="73152" cy="914400"/>
          </a:xfrm>
          <a:prstGeom prst="rect">
            <a:avLst/>
          </a:prstGeom>
          <a:solidFill>
            <a:srgbClr val="5B7A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69D02AE-4074-82C1-9BCD-0B231400D6DA}"/>
              </a:ext>
            </a:extLst>
          </p:cNvPr>
          <p:cNvSpPr/>
          <p:nvPr/>
        </p:nvSpPr>
        <p:spPr>
          <a:xfrm>
            <a:off x="676656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1980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3D50F8-483D-93CA-B8AC-DC5AFEE15B22}"/>
              </a:ext>
            </a:extLst>
          </p:cNvPr>
          <p:cNvSpPr/>
          <p:nvPr/>
        </p:nvSpPr>
        <p:spPr>
          <a:xfrm>
            <a:off x="777240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XCON expert system configures orders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227A341-360A-980A-3D47-6AA234544212}"/>
              </a:ext>
            </a:extLst>
          </p:cNvPr>
          <p:cNvSpPr/>
          <p:nvPr/>
        </p:nvSpPr>
        <p:spPr>
          <a:xfrm>
            <a:off x="6766560" y="5285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Equipment Corporation deploys XCON, saving millions and launching a major commercial boom in rule-based...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D522A2F-6906-6255-41AB-5F64772E776D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2: First Winter and Thaw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1667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E4A0DE-827C-EF6E-E1BE-94866EF390D0}"/>
              </a:ext>
            </a:extLst>
          </p:cNvPr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3: AI Winter II (1987–1993)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755CE7-D41A-1F98-0896-9F096EB48FA3}"/>
              </a:ext>
            </a:extLst>
          </p:cNvPr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prove brittle and expensive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9772BF-8C72-D17C-BD8A-772FA691D4C9}"/>
              </a:ext>
            </a:extLst>
          </p:cNvPr>
          <p:cNvSpPr/>
          <p:nvPr/>
        </p:nvSpPr>
        <p:spPr>
          <a:xfrm>
            <a:off x="8686800" y="4572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4B65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83B314-E491-1616-5C3C-9A5A0934B155}"/>
              </a:ext>
            </a:extLst>
          </p:cNvPr>
          <p:cNvSpPr/>
          <p:nvPr/>
        </p:nvSpPr>
        <p:spPr>
          <a:xfrm>
            <a:off x="8686800" y="502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Winter II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1987–1993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6333EB-4283-B333-FF2F-CD4AAFEBA94D}"/>
              </a:ext>
            </a:extLst>
          </p:cNvPr>
          <p:cNvSpPr/>
          <p:nvPr/>
        </p:nvSpPr>
        <p:spPr>
          <a:xfrm>
            <a:off x="731520" y="2103120"/>
            <a:ext cx="10725912" cy="45720"/>
          </a:xfrm>
          <a:prstGeom prst="rect">
            <a:avLst/>
          </a:prstGeom>
          <a:solidFill>
            <a:srgbClr val="4B65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A1D6DB5-5480-8D27-3BA5-13F33BF4F944}"/>
              </a:ext>
            </a:extLst>
          </p:cNvPr>
          <p:cNvSpPr/>
          <p:nvPr/>
        </p:nvSpPr>
        <p:spPr>
          <a:xfrm>
            <a:off x="3264408" y="2029968"/>
            <a:ext cx="182880" cy="182880"/>
          </a:xfrm>
          <a:prstGeom prst="ellipse">
            <a:avLst/>
          </a:prstGeom>
          <a:solidFill>
            <a:srgbClr val="4B65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DCBAFF-ED6A-638A-B9E0-D0F6919725AD}"/>
              </a:ext>
            </a:extLst>
          </p:cNvPr>
          <p:cNvSpPr/>
          <p:nvPr/>
        </p:nvSpPr>
        <p:spPr>
          <a:xfrm>
            <a:off x="731520" y="1645920"/>
            <a:ext cx="5248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1987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091E5D-A289-0F69-339A-D9DB01C0824C}"/>
              </a:ext>
            </a:extLst>
          </p:cNvPr>
          <p:cNvSpPr/>
          <p:nvPr/>
        </p:nvSpPr>
        <p:spPr>
          <a:xfrm>
            <a:off x="731520" y="2377440"/>
            <a:ext cx="5248656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A5E5B0-D089-024C-1B17-9DF91F3658DA}"/>
              </a:ext>
            </a:extLst>
          </p:cNvPr>
          <p:cNvSpPr/>
          <p:nvPr/>
        </p:nvSpPr>
        <p:spPr>
          <a:xfrm>
            <a:off x="868680" y="2468880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LISP machine market collapses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8B3A32-4441-AA32-1313-7325726A7A92}"/>
              </a:ext>
            </a:extLst>
          </p:cNvPr>
          <p:cNvSpPr/>
          <p:nvPr/>
        </p:nvSpPr>
        <p:spPr>
          <a:xfrm>
            <a:off x="868680" y="3337560"/>
            <a:ext cx="497433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hardware manufacturers collapse as general-purpose desktop PCs and workstations catch up in speed and drop drastically in price.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37C7CA-5685-0AEA-2D78-66BB9D8A7472}"/>
              </a:ext>
            </a:extLst>
          </p:cNvPr>
          <p:cNvSpPr/>
          <p:nvPr/>
        </p:nvSpPr>
        <p:spPr>
          <a:xfrm>
            <a:off x="8741664" y="2029968"/>
            <a:ext cx="182880" cy="182880"/>
          </a:xfrm>
          <a:prstGeom prst="ellipse">
            <a:avLst/>
          </a:prstGeom>
          <a:solidFill>
            <a:srgbClr val="4B65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D1FB666-B889-4518-65D6-6A1612819843}"/>
              </a:ext>
            </a:extLst>
          </p:cNvPr>
          <p:cNvSpPr/>
          <p:nvPr/>
        </p:nvSpPr>
        <p:spPr>
          <a:xfrm>
            <a:off x="6208776" y="1645920"/>
            <a:ext cx="5248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B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1988–93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9E6D933-2BAD-8400-491D-9F8D096B846F}"/>
              </a:ext>
            </a:extLst>
          </p:cNvPr>
          <p:cNvSpPr/>
          <p:nvPr/>
        </p:nvSpPr>
        <p:spPr>
          <a:xfrm>
            <a:off x="6208776" y="2377440"/>
            <a:ext cx="5248656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8E753FF-9807-B234-4C48-723D9A92F7F1}"/>
              </a:ext>
            </a:extLst>
          </p:cNvPr>
          <p:cNvSpPr/>
          <p:nvPr/>
        </p:nvSpPr>
        <p:spPr>
          <a:xfrm>
            <a:off x="6345936" y="2468880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 systems are retired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EFC59DE-05FA-A7AB-CFCB-9D1F21A63A4E}"/>
              </a:ext>
            </a:extLst>
          </p:cNvPr>
          <p:cNvSpPr/>
          <p:nvPr/>
        </p:nvSpPr>
        <p:spPr>
          <a:xfrm>
            <a:off x="6345936" y="3337560"/>
            <a:ext cx="497433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DARPA's Strategic Computing Initiative halts massive AI funding. Businesses quietly retire fragile expert systems that were too difficult and expensive to keep updated.</a:t>
            </a:r>
            <a:endParaRPr lang="en-US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25C81E-69D7-593D-EB55-11BFA77A42FC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3: Second Winter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294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D6B6045-5F9C-B2AC-8353-AE6F79A226C9}"/>
              </a:ext>
            </a:extLst>
          </p:cNvPr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4: Quiet Renaissance (1994–2011)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2596EF-EEB5-190E-16CB-E78B070A7B3B}"/>
              </a:ext>
            </a:extLst>
          </p:cNvPr>
          <p:cNvSpPr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mathematical pivot to probability, statistics, and internet-scale datasets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35895E-826C-10DC-5D02-23CB7A594FDE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F9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hand-coding logical rules, researchers turned to machine learning and statistical models.
</a:t>
            </a:r>
            <a:r>
              <a:rPr lang="en-US" sz="1300" b="1" dirty="0">
                <a:solidFill>
                  <a:srgbClr val="2F9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Deep Blue defeats world chess champion Garry Kasparov in 1997, proving that specialized search chips could beat human intuition.
</a:t>
            </a:r>
            <a:r>
              <a:rPr lang="en-US" sz="1300" b="1" dirty="0">
                <a:solidFill>
                  <a:srgbClr val="2F9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Yann LeCun's LeNet-5 (1998) reads checks with 99%+ accuracy using convolutional layers, but is too slow on contemporary CPUs.
</a:t>
            </a:r>
            <a:r>
              <a:rPr lang="en-US" sz="1300" b="1" dirty="0">
                <a:solidFill>
                  <a:srgbClr val="2F9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Geoffrey Hinton rebrands the field in 2006 as "Deep Learning", demonstrating training methods for multi-layered networks.
</a:t>
            </a:r>
            <a:r>
              <a:rPr lang="en-US" sz="1300" b="1" dirty="0">
                <a:solidFill>
                  <a:srgbClr val="2F9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Fei-Fei Li launches ImageNet (2009), providing the millions of labeled training instances required for neural networks to generalize.
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5466ADC-B30A-2440-38E9-DD8BE8A71D1E}"/>
              </a:ext>
            </a:extLst>
          </p:cNvPr>
          <p:cNvSpPr/>
          <p:nvPr/>
        </p:nvSpPr>
        <p:spPr>
          <a:xfrm>
            <a:off x="6583680" y="164592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7D26357-D0C6-89A3-A9ED-93F54F30132F}"/>
              </a:ext>
            </a:extLst>
          </p:cNvPr>
          <p:cNvSpPr/>
          <p:nvPr/>
        </p:nvSpPr>
        <p:spPr>
          <a:xfrm>
            <a:off x="6583680" y="1645920"/>
            <a:ext cx="73152" cy="914400"/>
          </a:xfrm>
          <a:prstGeom prst="rect">
            <a:avLst/>
          </a:prstGeom>
          <a:solidFill>
            <a:srgbClr val="2F9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3A0A3E-F582-86BD-0CFB-E4315D013E94}"/>
              </a:ext>
            </a:extLst>
          </p:cNvPr>
          <p:cNvSpPr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1997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01C3C98-D488-9077-6442-C73FE8D48ACC}"/>
              </a:ext>
            </a:extLst>
          </p:cNvPr>
          <p:cNvSpPr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Blue beats Kasparov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6CE521D-C8F2-F6DC-DA4C-01A4FF15E5AF}"/>
              </a:ext>
            </a:extLst>
          </p:cNvPr>
          <p:cNvSpPr/>
          <p:nvPr/>
        </p:nvSpPr>
        <p:spPr>
          <a:xfrm>
            <a:off x="6766560" y="19933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Deep Blue defeats the world chess champion Garry Kasparov, showcasing the power of brute-force...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CF9166-F388-725E-7C78-CB9DF023AFB0}"/>
              </a:ext>
            </a:extLst>
          </p:cNvPr>
          <p:cNvSpPr/>
          <p:nvPr/>
        </p:nvSpPr>
        <p:spPr>
          <a:xfrm>
            <a:off x="6583680" y="274320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C770463-C976-4222-5EC2-A3E57F91250F}"/>
              </a:ext>
            </a:extLst>
          </p:cNvPr>
          <p:cNvSpPr/>
          <p:nvPr/>
        </p:nvSpPr>
        <p:spPr>
          <a:xfrm>
            <a:off x="6583680" y="2743200"/>
            <a:ext cx="73152" cy="914400"/>
          </a:xfrm>
          <a:prstGeom prst="rect">
            <a:avLst/>
          </a:prstGeom>
          <a:solidFill>
            <a:srgbClr val="2F9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717A41-5A60-7774-B5DD-66746A0B8569}"/>
              </a:ext>
            </a:extLst>
          </p:cNvPr>
          <p:cNvSpPr/>
          <p:nvPr/>
        </p:nvSpPr>
        <p:spPr>
          <a:xfrm>
            <a:off x="67665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1998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A017BC-D4D3-85EE-FEFE-753E3C5DA5A6}"/>
              </a:ext>
            </a:extLst>
          </p:cNvPr>
          <p:cNvSpPr/>
          <p:nvPr/>
        </p:nvSpPr>
        <p:spPr>
          <a:xfrm>
            <a:off x="77724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LeNet-5 reads digits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322538-40FA-8D6B-A4E3-F66881862108}"/>
              </a:ext>
            </a:extLst>
          </p:cNvPr>
          <p:cNvSpPr/>
          <p:nvPr/>
        </p:nvSpPr>
        <p:spPr>
          <a:xfrm>
            <a:off x="6766560" y="30906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Yann LeCun's convolutional neural network (CNN) achieves 99%+ accuracy on handwritten digits, establishing the template...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6C2F44-01C8-E190-97BF-17BD6735BAA8}"/>
              </a:ext>
            </a:extLst>
          </p:cNvPr>
          <p:cNvSpPr/>
          <p:nvPr/>
        </p:nvSpPr>
        <p:spPr>
          <a:xfrm>
            <a:off x="6583680" y="384048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B365CE5-7C25-026D-C88D-DB7A7EAE6714}"/>
              </a:ext>
            </a:extLst>
          </p:cNvPr>
          <p:cNvSpPr/>
          <p:nvPr/>
        </p:nvSpPr>
        <p:spPr>
          <a:xfrm>
            <a:off x="6583680" y="3840480"/>
            <a:ext cx="73152" cy="914400"/>
          </a:xfrm>
          <a:prstGeom prst="rect">
            <a:avLst/>
          </a:prstGeom>
          <a:solidFill>
            <a:srgbClr val="2F9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2E734FD-B7B9-790A-5E54-22519317AD4C}"/>
              </a:ext>
            </a:extLst>
          </p:cNvPr>
          <p:cNvSpPr/>
          <p:nvPr/>
        </p:nvSpPr>
        <p:spPr>
          <a:xfrm>
            <a:off x="67665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2006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7D2E07D-DEE4-4418-2695-016A6F2496D3}"/>
              </a:ext>
            </a:extLst>
          </p:cNvPr>
          <p:cNvSpPr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"Deep learning" gets its name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6968165-EDBD-0E2B-915B-BA4D109D7451}"/>
              </a:ext>
            </a:extLst>
          </p:cNvPr>
          <p:cNvSpPr/>
          <p:nvPr/>
        </p:nvSpPr>
        <p:spPr>
          <a:xfrm>
            <a:off x="6766560" y="4187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Geoffrey Hinton and collaborators publish a technique for training deep belief networks, rebranding the revived...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18B9330-A8C3-BBE0-FD77-48DD11DED441}"/>
              </a:ext>
            </a:extLst>
          </p:cNvPr>
          <p:cNvSpPr/>
          <p:nvPr/>
        </p:nvSpPr>
        <p:spPr>
          <a:xfrm>
            <a:off x="6583680" y="493776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AC96F07-BAB5-9899-F0FD-EDD17E484769}"/>
              </a:ext>
            </a:extLst>
          </p:cNvPr>
          <p:cNvSpPr/>
          <p:nvPr/>
        </p:nvSpPr>
        <p:spPr>
          <a:xfrm>
            <a:off x="6583680" y="4937760"/>
            <a:ext cx="73152" cy="914400"/>
          </a:xfrm>
          <a:prstGeom prst="rect">
            <a:avLst/>
          </a:prstGeom>
          <a:solidFill>
            <a:srgbClr val="2F9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B13C62-0197-40C0-4F0C-A50E59841F17}"/>
              </a:ext>
            </a:extLst>
          </p:cNvPr>
          <p:cNvSpPr/>
          <p:nvPr/>
        </p:nvSpPr>
        <p:spPr>
          <a:xfrm>
            <a:off x="676656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3CB85F0-CE30-506A-9CE4-AADC32C54D0E}"/>
              </a:ext>
            </a:extLst>
          </p:cNvPr>
          <p:cNvSpPr/>
          <p:nvPr/>
        </p:nvSpPr>
        <p:spPr>
          <a:xfrm>
            <a:off x="777240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ImageNet dataset is released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5DBC0F-DE19-7506-3D05-67C8EA725C9B}"/>
              </a:ext>
            </a:extLst>
          </p:cNvPr>
          <p:cNvSpPr/>
          <p:nvPr/>
        </p:nvSpPr>
        <p:spPr>
          <a:xfrm>
            <a:off x="6766560" y="5285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Fei-Fei Li's team opens ImageNet, a library of millions of labeled images. This database becomes...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F3CD237-B939-CB01-7116-2502EF3158A1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4: Quiet Renaissance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1066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6684318-943F-A855-230E-44322BC1F711}"/>
              </a:ext>
            </a:extLst>
          </p:cNvPr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5: Deep Learning &amp; Cloud Infrastructure (2012–2019)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87A88C-A90C-B3E5-3AEA-A0FA239F54BF}"/>
              </a:ext>
            </a:extLst>
          </p:cNvPr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Hardware, big data, and algorithms align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30CDA38-06DB-DCA5-3B9A-1744FC8EF253}"/>
              </a:ext>
            </a:extLst>
          </p:cNvPr>
          <p:cNvSpPr/>
          <p:nvPr/>
        </p:nvSpPr>
        <p:spPr>
          <a:xfrm>
            <a:off x="8686800" y="45720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F3850D-E7F4-AD11-2137-30C227DE11F0}"/>
              </a:ext>
            </a:extLst>
          </p:cNvPr>
          <p:cNvSpPr/>
          <p:nvPr/>
        </p:nvSpPr>
        <p:spPr>
          <a:xfrm>
            <a:off x="8686800" y="502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&amp; Cloud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2012–2019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C4BFE3-4E88-D829-C2D7-BF4FA32B509E}"/>
              </a:ext>
            </a:extLst>
          </p:cNvPr>
          <p:cNvSpPr/>
          <p:nvPr/>
        </p:nvSpPr>
        <p:spPr>
          <a:xfrm>
            <a:off x="731520" y="2103120"/>
            <a:ext cx="10725912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ACFEC12-8AAB-3F2E-8473-37A8638E9F30}"/>
              </a:ext>
            </a:extLst>
          </p:cNvPr>
          <p:cNvSpPr/>
          <p:nvPr/>
        </p:nvSpPr>
        <p:spPr>
          <a:xfrm>
            <a:off x="1621231" y="202996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866638-4168-7E5B-8F9B-065BA6B32C29}"/>
              </a:ext>
            </a:extLst>
          </p:cNvPr>
          <p:cNvSpPr/>
          <p:nvPr/>
        </p:nvSpPr>
        <p:spPr>
          <a:xfrm>
            <a:off x="731520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2012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EE47F9-B4B6-C035-1659-9658A65CCB64}"/>
              </a:ext>
            </a:extLst>
          </p:cNvPr>
          <p:cNvSpPr/>
          <p:nvPr/>
        </p:nvSpPr>
        <p:spPr>
          <a:xfrm>
            <a:off x="731520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3E6CD8-8B87-D319-AF51-D982D5656DBF}"/>
              </a:ext>
            </a:extLst>
          </p:cNvPr>
          <p:cNvSpPr/>
          <p:nvPr/>
        </p:nvSpPr>
        <p:spPr>
          <a:xfrm>
            <a:off x="868680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AlexNet wins ImageNet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8203B6-23C0-7F96-4DBC-0A95F1FEB99F}"/>
              </a:ext>
            </a:extLst>
          </p:cNvPr>
          <p:cNvSpPr/>
          <p:nvPr/>
        </p:nvSpPr>
        <p:spPr>
          <a:xfrm>
            <a:off x="868680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Krizhevsky, Ilya Sutskever, and Geoffrey Hinton drop the ImageNet error rate by 11 points using deep CNNs trained on gaming GPUs, sparking the modern deep learning boom.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A6C858C-7284-E2A8-5A9F-4ED2A935A6A6}"/>
              </a:ext>
            </a:extLst>
          </p:cNvPr>
          <p:cNvSpPr/>
          <p:nvPr/>
        </p:nvSpPr>
        <p:spPr>
          <a:xfrm>
            <a:off x="3812134" y="202996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5F207B-F709-3F9D-0623-1FA663DA1CB1}"/>
              </a:ext>
            </a:extLst>
          </p:cNvPr>
          <p:cNvSpPr/>
          <p:nvPr/>
        </p:nvSpPr>
        <p:spPr>
          <a:xfrm>
            <a:off x="2922422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2013–15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41057E4-18FB-70F6-CBF0-BF7C9C508FAA}"/>
              </a:ext>
            </a:extLst>
          </p:cNvPr>
          <p:cNvSpPr/>
          <p:nvPr/>
        </p:nvSpPr>
        <p:spPr>
          <a:xfrm>
            <a:off x="2922422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4D96B6-064F-6610-5C18-67DCC79168A2}"/>
              </a:ext>
            </a:extLst>
          </p:cNvPr>
          <p:cNvSpPr/>
          <p:nvPr/>
        </p:nvSpPr>
        <p:spPr>
          <a:xfrm>
            <a:off x="3059582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Big Tech goes all-in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F97A9FA-ABB7-58D2-FE8A-1C008BCA2C2B}"/>
              </a:ext>
            </a:extLst>
          </p:cNvPr>
          <p:cNvSpPr/>
          <p:nvPr/>
        </p:nvSpPr>
        <p:spPr>
          <a:xfrm>
            <a:off x="3059582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acquires DeepMind; Hinton joins Google; FAIR and OpenAI are founded. Cloud giants (AWS, Azure, GCP) begin renting out server-side GPU instances, enabling rapid startup training.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D0D60FC-2DBC-5110-89EB-2B09FAC69737}"/>
              </a:ext>
            </a:extLst>
          </p:cNvPr>
          <p:cNvSpPr/>
          <p:nvPr/>
        </p:nvSpPr>
        <p:spPr>
          <a:xfrm>
            <a:off x="6003036" y="202996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586948E-A1A5-1A88-CF96-EA45B2D93902}"/>
              </a:ext>
            </a:extLst>
          </p:cNvPr>
          <p:cNvSpPr/>
          <p:nvPr/>
        </p:nvSpPr>
        <p:spPr>
          <a:xfrm>
            <a:off x="5113325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3D77674-71EA-776F-E635-266AB94AC892}"/>
              </a:ext>
            </a:extLst>
          </p:cNvPr>
          <p:cNvSpPr/>
          <p:nvPr/>
        </p:nvSpPr>
        <p:spPr>
          <a:xfrm>
            <a:off x="5113325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740A4D-B696-1DE2-4277-62476E23C9A5}"/>
              </a:ext>
            </a:extLst>
          </p:cNvPr>
          <p:cNvSpPr/>
          <p:nvPr/>
        </p:nvSpPr>
        <p:spPr>
          <a:xfrm>
            <a:off x="5250485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AlphaGo beats Lee Sedol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3224D18-4849-08AC-2D42-6700990B97DF}"/>
              </a:ext>
            </a:extLst>
          </p:cNvPr>
          <p:cNvSpPr/>
          <p:nvPr/>
        </p:nvSpPr>
        <p:spPr>
          <a:xfrm>
            <a:off x="5250485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DeepMind's AlphaGo defeats Go champion Lee Sedol, mastering a game long considered impossible for machines to brute-force due to its intuitive nature.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457B112-458C-B15E-F283-DCB3A2E93230}"/>
              </a:ext>
            </a:extLst>
          </p:cNvPr>
          <p:cNvSpPr/>
          <p:nvPr/>
        </p:nvSpPr>
        <p:spPr>
          <a:xfrm>
            <a:off x="8193938" y="202996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80398E3-AE77-2AC2-A56E-2322355C1A9B}"/>
              </a:ext>
            </a:extLst>
          </p:cNvPr>
          <p:cNvSpPr/>
          <p:nvPr/>
        </p:nvSpPr>
        <p:spPr>
          <a:xfrm>
            <a:off x="7304227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93DED7-C38F-1B2B-0E10-9AE3CA0197C4}"/>
              </a:ext>
            </a:extLst>
          </p:cNvPr>
          <p:cNvSpPr/>
          <p:nvPr/>
        </p:nvSpPr>
        <p:spPr>
          <a:xfrm>
            <a:off x="7304227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B92B943-0692-9F2D-AB93-27A063C99C99}"/>
              </a:ext>
            </a:extLst>
          </p:cNvPr>
          <p:cNvSpPr/>
          <p:nvPr/>
        </p:nvSpPr>
        <p:spPr>
          <a:xfrm>
            <a:off x="7441387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"Attention Is All You Need"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5BB3B12-CDB1-09EC-0EA6-45C0443F2A88}"/>
              </a:ext>
            </a:extLst>
          </p:cNvPr>
          <p:cNvSpPr/>
          <p:nvPr/>
        </p:nvSpPr>
        <p:spPr>
          <a:xfrm>
            <a:off x="7441387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researchers publish the Transformer architecture, allowing massive parallel processing of text. This becomes the foundation of all modern Large Language Models.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5A2ED9F-98CA-D4C8-9967-C44167AC2C21}"/>
              </a:ext>
            </a:extLst>
          </p:cNvPr>
          <p:cNvSpPr/>
          <p:nvPr/>
        </p:nvSpPr>
        <p:spPr>
          <a:xfrm>
            <a:off x="10384841" y="2029968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FB6B1D8-B47E-0BB1-DAD2-756C34ACDCA0}"/>
              </a:ext>
            </a:extLst>
          </p:cNvPr>
          <p:cNvSpPr/>
          <p:nvPr/>
        </p:nvSpPr>
        <p:spPr>
          <a:xfrm>
            <a:off x="9495130" y="1645920"/>
            <a:ext cx="19623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2018–19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B889264-F06F-4AB9-D6E2-85DE78144BEB}"/>
              </a:ext>
            </a:extLst>
          </p:cNvPr>
          <p:cNvSpPr/>
          <p:nvPr/>
        </p:nvSpPr>
        <p:spPr>
          <a:xfrm>
            <a:off x="9495130" y="2377440"/>
            <a:ext cx="1962302" cy="347472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768023F-3919-87F6-0D80-318DFB5ABDED}"/>
              </a:ext>
            </a:extLst>
          </p:cNvPr>
          <p:cNvSpPr/>
          <p:nvPr/>
        </p:nvSpPr>
        <p:spPr>
          <a:xfrm>
            <a:off x="9632290" y="2468880"/>
            <a:ext cx="16879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BERT and GPT-2 emerge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45BE49D-4092-E080-8E60-CEC210E25A8F}"/>
              </a:ext>
            </a:extLst>
          </p:cNvPr>
          <p:cNvSpPr/>
          <p:nvPr/>
        </p:nvSpPr>
        <p:spPr>
          <a:xfrm>
            <a:off x="9632290" y="3337560"/>
            <a:ext cx="168798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pre-trained transformers like Google's BERT and OpenAI's GPT-2 prove that scaling up neural networks allows them to generalize across diverse NLP tasks.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4F13369-61C4-3A9B-07F4-F3E6BA4B4877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5: Deep Learning &amp; Cloud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3058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C52B4DC-CE8D-B530-B739-F927120EC8D9}"/>
              </a:ext>
            </a:extLst>
          </p:cNvPr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Era 6: The Generative AI Era (2020–Present)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9A2961-6AE5-F054-7DE5-8C6DAABE6864}"/>
              </a:ext>
            </a:extLst>
          </p:cNvPr>
          <p:cNvSpPr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experimental labs to everyday infrastructure and global scaling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5E0FD2-4C2B-F472-00BC-F63A4117C60B}"/>
              </a:ext>
            </a:extLst>
          </p:cNvPr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F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(2020) and AlphaFold show startling few-shot capabilities and solve the 50-year-old protein folding structure question.
</a:t>
            </a:r>
            <a:r>
              <a:rPr lang="en-US" sz="1300" b="1" dirty="0">
                <a:solidFill>
                  <a:srgbClr val="EF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(Nov 2022) launches fine-tuned conversational AI to the general public, hitting 100 million users in 2 months.
</a:t>
            </a:r>
            <a:r>
              <a:rPr lang="en-US" sz="1300" b="1" dirty="0">
                <a:solidFill>
                  <a:srgbClr val="EF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architectures (GPT-4, Claude, Gemini) handle voice, code, images, and documents natively.
</a:t>
            </a:r>
            <a:r>
              <a:rPr lang="en-US" sz="1300" b="1" dirty="0">
                <a:solidFill>
                  <a:srgbClr val="EF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wins Nobel Prizes in Chemistry and Physics in 2024, cement-stamping deep neural networks as mainstream scientific tools.
</a:t>
            </a:r>
            <a:r>
              <a:rPr lang="en-US" sz="1300" b="1" dirty="0">
                <a:solidFill>
                  <a:srgbClr val="EF4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frontier (2025–2026) shifts to "System 2" reasoning models, multi-step agent workflows, and massive gigawatt data centers.
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AB9850-E42A-BDB8-A7AC-4DF3352F3912}"/>
              </a:ext>
            </a:extLst>
          </p:cNvPr>
          <p:cNvSpPr/>
          <p:nvPr/>
        </p:nvSpPr>
        <p:spPr>
          <a:xfrm>
            <a:off x="6583680" y="1401256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9D65B3-BEE8-E391-63B1-EDAE1A0692D7}"/>
              </a:ext>
            </a:extLst>
          </p:cNvPr>
          <p:cNvSpPr/>
          <p:nvPr/>
        </p:nvSpPr>
        <p:spPr>
          <a:xfrm>
            <a:off x="6583680" y="1401256"/>
            <a:ext cx="73152" cy="914400"/>
          </a:xfrm>
          <a:prstGeom prst="rect">
            <a:avLst/>
          </a:prstGeom>
          <a:solidFill>
            <a:srgbClr val="EF4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1D20A7-1CF5-3FE0-D363-2536DC17F22A}"/>
              </a:ext>
            </a:extLst>
          </p:cNvPr>
          <p:cNvSpPr/>
          <p:nvPr/>
        </p:nvSpPr>
        <p:spPr>
          <a:xfrm>
            <a:off x="6766560" y="14926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99D4AE-EE67-FEF4-294C-88D5C9FEBFB6}"/>
              </a:ext>
            </a:extLst>
          </p:cNvPr>
          <p:cNvSpPr/>
          <p:nvPr/>
        </p:nvSpPr>
        <p:spPr>
          <a:xfrm>
            <a:off x="7772400" y="14926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GPT-3 and AlphaFold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A68C64-159E-CA4A-50CB-9BE48252A68F}"/>
              </a:ext>
            </a:extLst>
          </p:cNvPr>
          <p:cNvSpPr/>
          <p:nvPr/>
        </p:nvSpPr>
        <p:spPr>
          <a:xfrm>
            <a:off x="6766560" y="1748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175-billion parameter GPT-3 exhibits few-shot learning. Simultaneously, DeepMind's AlphaFold solves the 50-year-old biological mystery...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6DB96F1-4E77-F161-C65C-8191A7FE0C0D}"/>
              </a:ext>
            </a:extLst>
          </p:cNvPr>
          <p:cNvSpPr/>
          <p:nvPr/>
        </p:nvSpPr>
        <p:spPr>
          <a:xfrm>
            <a:off x="6583680" y="2498536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1178FD7-B77E-0A1C-5651-28A8B2BB1E07}"/>
              </a:ext>
            </a:extLst>
          </p:cNvPr>
          <p:cNvSpPr/>
          <p:nvPr/>
        </p:nvSpPr>
        <p:spPr>
          <a:xfrm>
            <a:off x="6583680" y="2498536"/>
            <a:ext cx="73152" cy="914400"/>
          </a:xfrm>
          <a:prstGeom prst="rect">
            <a:avLst/>
          </a:prstGeom>
          <a:solidFill>
            <a:srgbClr val="EF4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08F0FA-C30C-2CAD-8510-A1388CECF3C3}"/>
              </a:ext>
            </a:extLst>
          </p:cNvPr>
          <p:cNvSpPr/>
          <p:nvPr/>
        </p:nvSpPr>
        <p:spPr>
          <a:xfrm>
            <a:off x="6766560" y="2589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118CE74-09F7-2B4A-C898-2ABA9E1F0067}"/>
              </a:ext>
            </a:extLst>
          </p:cNvPr>
          <p:cNvSpPr/>
          <p:nvPr/>
        </p:nvSpPr>
        <p:spPr>
          <a:xfrm>
            <a:off x="7772400" y="2589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ChatGPT launches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8C3610D-AF01-192B-0D36-34D09F662702}"/>
              </a:ext>
            </a:extLst>
          </p:cNvPr>
          <p:cNvSpPr/>
          <p:nvPr/>
        </p:nvSpPr>
        <p:spPr>
          <a:xfrm>
            <a:off x="6766560" y="28460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launches a chat interface for a fine-tuned GPT-3.5. It becomes the fastest-growing consumer app...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782A544-AAE1-FC7E-3E5A-D9A5BB0E07CF}"/>
              </a:ext>
            </a:extLst>
          </p:cNvPr>
          <p:cNvSpPr/>
          <p:nvPr/>
        </p:nvSpPr>
        <p:spPr>
          <a:xfrm>
            <a:off x="6583680" y="3595816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4214A16-B4EC-2E8A-D071-01ADA4CE7204}"/>
              </a:ext>
            </a:extLst>
          </p:cNvPr>
          <p:cNvSpPr/>
          <p:nvPr/>
        </p:nvSpPr>
        <p:spPr>
          <a:xfrm>
            <a:off x="6583680" y="3595816"/>
            <a:ext cx="73152" cy="914400"/>
          </a:xfrm>
          <a:prstGeom prst="rect">
            <a:avLst/>
          </a:prstGeom>
          <a:solidFill>
            <a:srgbClr val="EF4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A84E690-57DB-372D-5486-54764630F355}"/>
              </a:ext>
            </a:extLst>
          </p:cNvPr>
          <p:cNvSpPr/>
          <p:nvPr/>
        </p:nvSpPr>
        <p:spPr>
          <a:xfrm>
            <a:off x="6766560" y="36872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4A610DE-7D19-0D67-71B4-73F64C4C3BA4}"/>
              </a:ext>
            </a:extLst>
          </p:cNvPr>
          <p:cNvSpPr/>
          <p:nvPr/>
        </p:nvSpPr>
        <p:spPr>
          <a:xfrm>
            <a:off x="7772400" y="3687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platform race explodes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BC466E-743C-6954-3683-764C32E278B3}"/>
              </a:ext>
            </a:extLst>
          </p:cNvPr>
          <p:cNvSpPr/>
          <p:nvPr/>
        </p:nvSpPr>
        <p:spPr>
          <a:xfrm>
            <a:off x="6766560" y="3943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launches. Google ships Bard/Gemini. Anthropic rises. Multi-modal models and cloud hyperscalers accelerate their capital...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3728584-7FBF-A977-69AF-76763DA05D18}"/>
              </a:ext>
            </a:extLst>
          </p:cNvPr>
          <p:cNvSpPr/>
          <p:nvPr/>
        </p:nvSpPr>
        <p:spPr>
          <a:xfrm>
            <a:off x="6583680" y="4693096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6D256E4-FA7D-BADA-CFC3-0FE99A4F3999}"/>
              </a:ext>
            </a:extLst>
          </p:cNvPr>
          <p:cNvSpPr/>
          <p:nvPr/>
        </p:nvSpPr>
        <p:spPr>
          <a:xfrm>
            <a:off x="6583680" y="4693096"/>
            <a:ext cx="73152" cy="914400"/>
          </a:xfrm>
          <a:prstGeom prst="rect">
            <a:avLst/>
          </a:prstGeom>
          <a:solidFill>
            <a:srgbClr val="EF4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8A89E68-B937-D5B2-0913-810708844747}"/>
              </a:ext>
            </a:extLst>
          </p:cNvPr>
          <p:cNvSpPr/>
          <p:nvPr/>
        </p:nvSpPr>
        <p:spPr>
          <a:xfrm>
            <a:off x="6766560" y="47845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D8F07B-EAB2-81C9-D5CE-FBF6B5F00436}"/>
              </a:ext>
            </a:extLst>
          </p:cNvPr>
          <p:cNvSpPr/>
          <p:nvPr/>
        </p:nvSpPr>
        <p:spPr>
          <a:xfrm>
            <a:off x="7772400" y="4784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research wins Nobel Prizes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F68F21A-D69B-B6BF-2A81-7AE4DF217F6C}"/>
              </a:ext>
            </a:extLst>
          </p:cNvPr>
          <p:cNvSpPr/>
          <p:nvPr/>
        </p:nvSpPr>
        <p:spPr>
          <a:xfrm>
            <a:off x="6766560" y="50405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Demis Hassabis and John Jumper receive the Nobel Prize in Chemistry for AlphaFold. Geoffrey Hinton...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37D9C26-E542-0A59-6EF6-AD64860F3298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6: Generative Era</a:t>
            </a:r>
            <a:endParaRPr lang="en-US" sz="9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07D3C3F7-E2E1-48D0-B5CA-5644D33B013A}"/>
              </a:ext>
            </a:extLst>
          </p:cNvPr>
          <p:cNvSpPr/>
          <p:nvPr/>
        </p:nvSpPr>
        <p:spPr>
          <a:xfrm>
            <a:off x="6583680" y="5669280"/>
            <a:ext cx="4754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CCC9AB44-48A7-CB36-5A83-832637F3C104}"/>
              </a:ext>
            </a:extLst>
          </p:cNvPr>
          <p:cNvSpPr/>
          <p:nvPr/>
        </p:nvSpPr>
        <p:spPr>
          <a:xfrm>
            <a:off x="6583680" y="5669280"/>
            <a:ext cx="73152" cy="914400"/>
          </a:xfrm>
          <a:prstGeom prst="rect">
            <a:avLst/>
          </a:prstGeom>
          <a:solidFill>
            <a:srgbClr val="EF4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D5A4EEE1-365A-8262-1533-551BF6B462B2}"/>
              </a:ext>
            </a:extLst>
          </p:cNvPr>
          <p:cNvSpPr/>
          <p:nvPr/>
        </p:nvSpPr>
        <p:spPr>
          <a:xfrm>
            <a:off x="6766560" y="5760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2025-26</a:t>
            </a:r>
            <a:endParaRPr lang="en-US" sz="12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10A06D45-9A25-B2FF-434C-E3CB7158EA60}"/>
              </a:ext>
            </a:extLst>
          </p:cNvPr>
          <p:cNvSpPr/>
          <p:nvPr/>
        </p:nvSpPr>
        <p:spPr>
          <a:xfrm>
            <a:off x="7772400" y="5760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Reasoning models and the platform race</a:t>
            </a: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8A295D6B-6463-BED4-7EAE-7DFAE3FF85BB}"/>
              </a:ext>
            </a:extLst>
          </p:cNvPr>
          <p:cNvSpPr/>
          <p:nvPr/>
        </p:nvSpPr>
        <p:spPr>
          <a:xfrm>
            <a:off x="6766560" y="6016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Anthropic, and Google DeepMind release "reasoning" models that work through problems step by step. Meta, DeepSeek, and Mistral push open-source alternatives, while cloud providers race to build gigawatt-scale AI data centers.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3270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A2BBC7B-1366-1CAE-DC9C-C03F5613C703}"/>
              </a:ext>
            </a:extLst>
          </p:cNvPr>
          <p:cNvSpPr/>
          <p:nvPr/>
        </p:nvSpPr>
        <p:spPr>
          <a:xfrm>
            <a:off x="731520" y="457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75-Year Retrospective: Key Takeaways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7E2B08-6359-3F83-03F4-94995B6A0EC1}"/>
              </a:ext>
            </a:extLst>
          </p:cNvPr>
          <p:cNvSpPr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cycles of hype and hardware shaped our modern landscape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248855-2092-6F68-A53B-C81B01F4B832}"/>
              </a:ext>
            </a:extLst>
          </p:cNvPr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F0D59C-553E-9469-BDAD-7F6A9E55DE18}"/>
              </a:ext>
            </a:extLst>
          </p:cNvPr>
          <p:cNvSpPr/>
          <p:nvPr/>
        </p:nvSpPr>
        <p:spPr>
          <a:xfrm>
            <a:off x="1463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Hype Cycles &amp; Scaling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70B649-93AE-ED41-B75D-EFBA3CE28D94}"/>
              </a:ext>
            </a:extLst>
          </p:cNvPr>
          <p:cNvSpPr/>
          <p:nvPr/>
        </p:nvSpPr>
        <p:spPr>
          <a:xfrm>
            <a:off x="100584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cycles are driven by promising early demos that hit scaling bottlenecks. Winters end when hardware catches up to algorithms.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074A5C7-1C7F-6D34-DCFE-BAC6EE8BA939}"/>
              </a:ext>
            </a:extLst>
          </p:cNvPr>
          <p:cNvSpPr/>
          <p:nvPr/>
        </p:nvSpPr>
        <p:spPr>
          <a:xfrm>
            <a:off x="6172200" y="164592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EE8F1A-50C5-AF74-4F40-1CDB07FF5241}"/>
              </a:ext>
            </a:extLst>
          </p:cNvPr>
          <p:cNvSpPr/>
          <p:nvPr/>
        </p:nvSpPr>
        <p:spPr>
          <a:xfrm>
            <a:off x="690372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Vital Nature of Data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01F136-8B98-5570-FB25-BE73C59BB320}"/>
              </a:ext>
            </a:extLst>
          </p:cNvPr>
          <p:cNvSpPr/>
          <p:nvPr/>
        </p:nvSpPr>
        <p:spPr>
          <a:xfrm>
            <a:off x="644652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the lifeblood: symbolic AI failed because rules are rigid, whereas statistical ML thrives on raw, real-world datasets.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F727A1D-29B4-A5B4-A831-5D9F450AF118}"/>
              </a:ext>
            </a:extLst>
          </p:cNvPr>
          <p:cNvSpPr/>
          <p:nvPr/>
        </p:nvSpPr>
        <p:spPr>
          <a:xfrm>
            <a:off x="731520" y="388620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B0D45B-0752-AE71-114A-6B30E873487B}"/>
              </a:ext>
            </a:extLst>
          </p:cNvPr>
          <p:cNvSpPr/>
          <p:nvPr/>
        </p:nvSpPr>
        <p:spPr>
          <a:xfrm>
            <a:off x="146304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as the Ultimate Catalyst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4FF1572-7530-01E3-5FAE-1856497F7974}"/>
              </a:ext>
            </a:extLst>
          </p:cNvPr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is the ultimate catalyst: neural nets existed in the 1980s, but required modern parallel GPUs and Cloud scaling to succeed.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005374E-0459-1772-B15A-DF0F67A93FE2}"/>
              </a:ext>
            </a:extLst>
          </p:cNvPr>
          <p:cNvSpPr/>
          <p:nvPr/>
        </p:nvSpPr>
        <p:spPr>
          <a:xfrm>
            <a:off x="6172200" y="3886200"/>
            <a:ext cx="512064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6E86AE7-5AE0-0F21-0620-58AB3075BA0E}"/>
              </a:ext>
            </a:extLst>
          </p:cNvPr>
          <p:cNvSpPr/>
          <p:nvPr/>
        </p:nvSpPr>
        <p:spPr>
          <a:xfrm>
            <a:off x="690372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Reasoning Frontier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6BB3C26-1C3D-B55A-6EDA-DAAC694E1A76}"/>
              </a:ext>
            </a:extLst>
          </p:cNvPr>
          <p:cNvSpPr/>
          <p:nvPr/>
        </p:nvSpPr>
        <p:spPr>
          <a:xfrm>
            <a:off x="644652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points toward deep reasoning, agentic tool execution, and energy-scale physical constraints.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183F1F-B43E-2991-26A7-604C495470D0}"/>
              </a:ext>
            </a:extLst>
          </p:cNvPr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Retrospective Summary</a:t>
            </a:r>
            <a:endParaRPr lang="en-US" sz="9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D1BBBD-E8C0-1E50-C280-8F3743D26304}"/>
              </a:ext>
            </a:extLst>
          </p:cNvPr>
          <p:cNvSpPr/>
          <p:nvPr/>
        </p:nvSpPr>
        <p:spPr>
          <a:xfrm>
            <a:off x="1005840" y="1832508"/>
            <a:ext cx="404066" cy="404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41FB11-8325-CF4F-B878-DCF9C1537717}"/>
              </a:ext>
            </a:extLst>
          </p:cNvPr>
          <p:cNvSpPr/>
          <p:nvPr/>
        </p:nvSpPr>
        <p:spPr>
          <a:xfrm>
            <a:off x="1005840" y="4069080"/>
            <a:ext cx="404066" cy="404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C4EF920-1901-7DC6-9B50-2FB79E621AC9}"/>
              </a:ext>
            </a:extLst>
          </p:cNvPr>
          <p:cNvSpPr/>
          <p:nvPr/>
        </p:nvSpPr>
        <p:spPr>
          <a:xfrm>
            <a:off x="6499654" y="1822622"/>
            <a:ext cx="404066" cy="404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856C9DD-68F4-8518-52FF-55C0B0CECEA6}"/>
              </a:ext>
            </a:extLst>
          </p:cNvPr>
          <p:cNvSpPr/>
          <p:nvPr/>
        </p:nvSpPr>
        <p:spPr>
          <a:xfrm>
            <a:off x="6499654" y="4069080"/>
            <a:ext cx="404066" cy="40406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26193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F6A4-221A-7A0D-4600-92DA0DAE6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13111-A5B4-A3BD-1393-CDC10D2A5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838" y="5351164"/>
            <a:ext cx="10956324" cy="1655762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AI Disclosure: Claude (Anthropic) to research AI history milestones and organize them chronologically; the final visual design and written descriptions were adapted/created by me.</a:t>
            </a:r>
          </a:p>
          <a:p>
            <a:pPr algn="l"/>
            <a:r>
              <a:rPr lang="en-US" sz="1600" dirty="0"/>
              <a:t>Sources: Britannica's history of AI, TechTarget's AI timeline, </a:t>
            </a:r>
            <a:r>
              <a:rPr lang="en-US" sz="1600" dirty="0" err="1"/>
              <a:t>Teachfloor's</a:t>
            </a:r>
            <a:r>
              <a:rPr lang="en-US" sz="1600" dirty="0"/>
              <a:t> and Wikipedia's AI Winter entries, </a:t>
            </a:r>
            <a:r>
              <a:rPr lang="en-US" sz="1600" dirty="0" err="1"/>
              <a:t>arXiv</a:t>
            </a:r>
            <a:r>
              <a:rPr lang="en-US" sz="1600" dirty="0"/>
              <a:t> chronologies, and CIO Dive's generative AI timeline. </a:t>
            </a:r>
          </a:p>
        </p:txBody>
      </p:sp>
    </p:spTree>
    <p:extLst>
      <p:ext uri="{BB962C8B-B14F-4D97-AF65-F5344CB8AC3E}">
        <p14:creationId xmlns:p14="http://schemas.microsoft.com/office/powerpoint/2010/main" val="337450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1644</Words>
  <Application>Microsoft Macintosh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Bandaru, Bhargavi Satya Sri</dc:creator>
  <cp:lastModifiedBy>Bandaru, Bhargavi Satya Sri</cp:lastModifiedBy>
  <cp:revision>1</cp:revision>
  <dcterms:created xsi:type="dcterms:W3CDTF">2026-07-10T15:56:19Z</dcterms:created>
  <dcterms:modified xsi:type="dcterms:W3CDTF">2026-07-10T16:19:14Z</dcterms:modified>
</cp:coreProperties>
</file>